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Few-Shot Semiconductor Defect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E5FF"/>
                </a:solidFill>
              </a:rPr>
              <a:t>ASU / Intel Semiconductor Solutions Challenge 2026 — Problem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3832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AACCFF"/>
                </a:solidFill>
              </a:rPr>
              <a:t>Two-Stage Cascade  ·  DINOv2  ·  Prototype Inference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E5FF"/>
                </a:solidFill>
              </a:rPr>
              <a:t>Hithesh Vurukonda  · 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916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E5FF"/>
                </a:solidFill>
              </a:rPr>
              <a:t>Wafer inspection at Intel scale — where misses cost millions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1091672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333333"/>
                </a:solidFill>
              </a:rPr>
              <a:t>• 3,778 grayscale wafer images across 9 classes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333333"/>
                </a:solidFill>
              </a:rPr>
              <a:t>• Severe class imbalance: 94.5% "good",  8–50 samples per defect type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333333"/>
                </a:solidFill>
              </a:rPr>
              <a:t>• Must detect all 8 defect types with ≤1 labelled example possible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333333"/>
                </a:solidFill>
              </a:rPr>
              <a:t>• Shipping a defective chip as "good" is far more costly than a false alarm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333333"/>
                </a:solidFill>
              </a:rPr>
              <a:t>• Critical metric: defect recall — not overall accuracy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480560"/>
            <a:ext cx="1828800" cy="338328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52628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480560"/>
            <a:ext cx="1371600" cy="338328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23160" y="4526280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Images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40" y="4480560"/>
            <a:ext cx="1828800" cy="338328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94760" y="452628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Class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4480560"/>
            <a:ext cx="1371600" cy="338328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23560" y="4526280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Images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0" y="4480560"/>
            <a:ext cx="1828800" cy="338328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95160" y="452628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Class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78240" y="4480560"/>
            <a:ext cx="1371600" cy="338328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4526280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Images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818888"/>
            <a:ext cx="18288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864608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good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77440" y="4818888"/>
            <a:ext cx="13716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23160" y="4864608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3,572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49040" y="4818888"/>
            <a:ext cx="18288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94760" y="4864608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defect5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77840" y="4818888"/>
            <a:ext cx="13716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3560" y="4864608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49440" y="4818888"/>
            <a:ext cx="18288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95160" y="4864608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defect4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78240" y="4818888"/>
            <a:ext cx="13716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23960" y="4864608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157216"/>
            <a:ext cx="18288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5202936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defect10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377440" y="5157216"/>
            <a:ext cx="13716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23160" y="5202936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38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40" y="5157216"/>
            <a:ext cx="18288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94760" y="5202936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defect1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77840" y="5157216"/>
            <a:ext cx="13716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23560" y="5202936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20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49440" y="5157216"/>
            <a:ext cx="18288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95160" y="5202936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defect3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78240" y="5157216"/>
            <a:ext cx="13716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23960" y="5202936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5495544"/>
            <a:ext cx="18288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5541264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defect8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377440" y="5495544"/>
            <a:ext cx="13716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23160" y="5541264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42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749040" y="5495544"/>
            <a:ext cx="18288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794760" y="5541264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defect2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77840" y="5495544"/>
            <a:ext cx="13716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23560" y="5541264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~45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49440" y="5495544"/>
            <a:ext cx="18288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995160" y="5541264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defect9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778240" y="5495544"/>
            <a:ext cx="13716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23960" y="5541264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Why Standard Classifiers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333333"/>
                </a:solidFill>
              </a:rPr>
              <a:t>A single model faces irreconcilable objectives: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11091672" cy="17830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08792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1A1A2E"/>
                </a:solidFill>
                <a:latin typeface="Courier New"/>
              </a:rPr>
              <a:t>Objective 1 (Stage 1): "good vs. defective"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  → 94.5% good → model predicts "good" for everything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  → defect recall ≈ 0%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/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Objective 2 (Stage 2): "which defect type?"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  → 8 rare classes, 8–50 samples each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  → overwhelmed by 3,572 "good" samples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290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71C5"/>
                </a:solidFill>
              </a:rPr>
              <a:t>Baseline single model result: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886200"/>
            <a:ext cx="4114800" cy="338328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931920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Metric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3886200"/>
            <a:ext cx="2743200" cy="338328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393192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Value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224528"/>
            <a:ext cx="41148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4270248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Overall Accuracy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4224528"/>
            <a:ext cx="27432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427024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91.1%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562856"/>
            <a:ext cx="41148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4608576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Balanced Accuracy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4562856"/>
            <a:ext cx="27432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9160" y="4608576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0.28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901184"/>
            <a:ext cx="41148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946904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Avg. Defect Recall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63440" y="4901184"/>
            <a:ext cx="27432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09160" y="4946904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~20%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0000"/>
                </a:solidFill>
              </a:rPr>
              <a:t>High overall accuracy masks near-complete failure to detect defects.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Solution: Two-Stage Cascade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333333"/>
                </a:solidFill>
              </a:rPr>
              <a:t>Decompose into two tractable, independently optimisable problems.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11091672" cy="38404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08792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1A1A2E"/>
                </a:solidFill>
                <a:latin typeface="Courier New"/>
              </a:rPr>
              <a:t>Input Image</a:t>
            </a:r>
          </a:p>
          <a:p>
            <a:r>
              <a:rPr sz="1200">
                <a:solidFill>
                  <a:srgbClr val="1A1A2E"/>
                </a:solidFill>
                <a:latin typeface="Courier New"/>
              </a:rPr>
              <a:t>    │</a:t>
            </a:r>
          </a:p>
          <a:p>
            <a:r>
              <a:rPr sz="1200">
                <a:solidFill>
                  <a:srgbClr val="1A1A2E"/>
                </a:solidFill>
                <a:latin typeface="Courier New"/>
              </a:rPr>
              <a:t>    ▼</a:t>
            </a:r>
          </a:p>
          <a:p>
            <a:r>
              <a:rPr sz="1200">
                <a:solidFill>
                  <a:srgbClr val="1A1A2E"/>
                </a:solidFill>
                <a:latin typeface="Courier New"/>
              </a:rPr>
              <a:t>┌──────────────────────────────────┐</a:t>
            </a:r>
          </a:p>
          <a:p>
            <a:r>
              <a:rPr sz="1200">
                <a:solidFill>
                  <a:srgbClr val="1A1A2E"/>
                </a:solidFill>
                <a:latin typeface="Courier New"/>
              </a:rPr>
              <a:t>│ Stage 1: Binary Classifier        │</a:t>
            </a:r>
          </a:p>
          <a:p>
            <a:r>
              <a:rPr sz="1200">
                <a:solidFill>
                  <a:srgbClr val="1A1A2E"/>
                </a:solidFill>
                <a:latin typeface="Courier New"/>
              </a:rPr>
              <a:t>│ "Is this wafer defective?"        │</a:t>
            </a:r>
          </a:p>
          <a:p>
            <a:r>
              <a:rPr sz="1200">
                <a:solidFill>
                  <a:srgbClr val="1A1A2E"/>
                </a:solidFill>
                <a:latin typeface="Courier New"/>
              </a:rPr>
              <a:t>│  Focal Loss + Balanced Sampler    │</a:t>
            </a:r>
          </a:p>
          <a:p>
            <a:r>
              <a:rPr sz="1200">
                <a:solidFill>
                  <a:srgbClr val="1A1A2E"/>
                </a:solidFill>
                <a:latin typeface="Courier New"/>
              </a:rPr>
              <a:t>└──────────────┬────────────────────┘</a:t>
            </a:r>
          </a:p>
          <a:p>
            <a:r>
              <a:rPr sz="1200">
                <a:solidFill>
                  <a:srgbClr val="1A1A2E"/>
                </a:solidFill>
                <a:latin typeface="Courier New"/>
              </a:rPr>
              <a:t>               │</a:t>
            </a:r>
          </a:p>
          <a:p>
            <a:r>
              <a:rPr sz="1200">
                <a:solidFill>
                  <a:srgbClr val="1A1A2E"/>
                </a:solidFill>
                <a:latin typeface="Courier New"/>
              </a:rPr>
              <a:t>      ┌────────┴────────┐</a:t>
            </a:r>
          </a:p>
          <a:p>
            <a:r>
              <a:rPr sz="1200">
                <a:solidFill>
                  <a:srgbClr val="1A1A2E"/>
                </a:solidFill>
                <a:latin typeface="Courier New"/>
              </a:rPr>
              <a:t>  defect_prob &lt; 0.65   defect_prob ≥ 0.65</a:t>
            </a:r>
          </a:p>
          <a:p>
            <a:r>
              <a:rPr sz="1200">
                <a:solidFill>
                  <a:srgbClr val="1A1A2E"/>
                </a:solidFill>
                <a:latin typeface="Courier New"/>
              </a:rPr>
              <a:t>      │                      │</a:t>
            </a:r>
          </a:p>
          <a:p>
            <a:r>
              <a:rPr sz="1200">
                <a:solidFill>
                  <a:srgbClr val="1A1A2E"/>
                </a:solidFill>
                <a:latin typeface="Courier New"/>
              </a:rPr>
              <a:t>      ▼                      ▼</a:t>
            </a:r>
          </a:p>
          <a:p>
            <a:r>
              <a:rPr sz="1200">
                <a:solidFill>
                  <a:srgbClr val="1A1A2E"/>
                </a:solidFill>
                <a:latin typeface="Courier New"/>
              </a:rPr>
              <a:t>  predict "good"    ┌──────────────────────────────┐</a:t>
            </a:r>
          </a:p>
          <a:p>
            <a:r>
              <a:rPr sz="1200">
                <a:solidFill>
                  <a:srgbClr val="1A1A2E"/>
                </a:solidFill>
                <a:latin typeface="Courier New"/>
              </a:rPr>
              <a:t>                    │ Stage 2: Defect-Type Classifier │</a:t>
            </a:r>
          </a:p>
          <a:p>
            <a:r>
              <a:rPr sz="1200">
                <a:solidFill>
                  <a:srgbClr val="1A1A2E"/>
                </a:solidFill>
                <a:latin typeface="Courier New"/>
              </a:rPr>
              <a:t>                    │ "Which of the 8 defect types?"  │</a:t>
            </a:r>
          </a:p>
          <a:p>
            <a:r>
              <a:rPr sz="1200">
                <a:solidFill>
                  <a:srgbClr val="1A1A2E"/>
                </a:solidFill>
                <a:latin typeface="Courier New"/>
              </a:rPr>
              <a:t>                    │  Prototype cosine similarity    │</a:t>
            </a:r>
          </a:p>
          <a:p>
            <a:r>
              <a:rPr sz="1200">
                <a:solidFill>
                  <a:srgbClr val="1A1A2E"/>
                </a:solidFill>
                <a:latin typeface="Courier New"/>
              </a:rPr>
              <a:t>                    └─────────────────────────────────┘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71C5"/>
                </a:solidFill>
              </a:rPr>
              <a:t>Each stage trains on a balanced dataset with no conflicting objectives.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Backbone: DINOv2 ViT-Small/14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</a:rPr>
              <a:t>Pretrained on 142M images using self-supervised DINO + iBOT objectives (Meta AI, 2023)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3474720" cy="338328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Property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1508760"/>
            <a:ext cx="2926080" cy="338328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9080" y="1554480"/>
            <a:ext cx="2834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Supervised ImageNet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0" y="1508760"/>
            <a:ext cx="2926080" cy="338328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1554480"/>
            <a:ext cx="2834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DINOv2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847088"/>
            <a:ext cx="347472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9280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Pretraining data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360" y="1847088"/>
            <a:ext cx="292608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9080" y="1892808"/>
            <a:ext cx="2834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~14M labelled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49440" y="1847088"/>
            <a:ext cx="292608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1892808"/>
            <a:ext cx="2834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142M unlabelled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185416"/>
            <a:ext cx="34747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23113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CLS token quality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185416"/>
            <a:ext cx="29260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9080" y="2231136"/>
            <a:ext cx="2834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Moderate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49440" y="2185416"/>
            <a:ext cx="29260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95160" y="2231136"/>
            <a:ext cx="2834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Excellent for clustering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523744"/>
            <a:ext cx="347472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56946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Few-shot defect benchmarks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360" y="2523744"/>
            <a:ext cx="292608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69080" y="2569464"/>
            <a:ext cx="2834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Baseline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49440" y="2523744"/>
            <a:ext cx="292608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95160" y="2569464"/>
            <a:ext cx="2834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+5–8% bal. acc.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2862072"/>
            <a:ext cx="34747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290779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Cosine similarity alignment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2862072"/>
            <a:ext cx="29260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69080" y="2907792"/>
            <a:ext cx="2834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Partial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0" y="2862072"/>
            <a:ext cx="29260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95160" y="2907792"/>
            <a:ext cx="2834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Direct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200400"/>
            <a:ext cx="347472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324612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NVIDIA semiconductor AUC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23360" y="3200400"/>
            <a:ext cx="292608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069080" y="3246120"/>
            <a:ext cx="2834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49440" y="3200400"/>
            <a:ext cx="292608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95160" y="3246120"/>
            <a:ext cx="2834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98.5% die-level accuracy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3721608"/>
            <a:ext cx="11091672" cy="2953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333333"/>
                </a:solidFill>
              </a:rPr>
              <a:t>• CLS token embedding designed to cluster visually similar patches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333333"/>
                </a:solidFill>
              </a:rPr>
              <a:t>• Self-supervised objectives align naturally with prototype-based inference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333333"/>
                </a:solidFill>
              </a:rPr>
              <a:t>• No labelled data needed for pretraining — scales to 142M images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Model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1672" cy="36118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08792" cy="3429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1A1A2E"/>
                </a:solidFill>
                <a:latin typeface="Courier New"/>
              </a:rPr>
              <a:t>Input (224×224 grayscale → 3-channel RGB replica)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        │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        ▼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DINOv2 ViT-Small/14  (patch size 14, 384-dim CLS token)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        │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        ▼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Embedding Head: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  Linear(384 → 256) → BatchNorm → ReLU → Dropout(0.35)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  → Linear(256 → 256) → BatchNorm → L2-Normalize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        │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        ▼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   Unit Hypersphere  (‖e‖₂ = 1)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        │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        ▼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Cosine similarity to class prototypes  → 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11091672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333333"/>
                </a:solidFill>
              </a:rPr>
              <a:t>• L2-normalisation: all embeddings projected onto unit sphere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333333"/>
                </a:solidFill>
              </a:rPr>
              <a:t>• Cosine similarity reduces to a dot product — efficiently computable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333333"/>
                </a:solidFill>
              </a:rPr>
              <a:t>• Dropout(0.35): critical regularisation with only 8–50 samples per defect class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333333"/>
                </a:solidFill>
              </a:rPr>
              <a:t>• Grayscale → RGB: single channel replicated; no information loss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Training: Stage 1 — Binary Classifier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916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E5FF"/>
                </a:solidFill>
              </a:rPr>
              <a:t>Goal: maximise defect recall while good-chip recall ≥ 80%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2286000" cy="338328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Hyperparameter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0" y="1097280"/>
            <a:ext cx="2286000" cy="338328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114300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1097280"/>
            <a:ext cx="4846320" cy="338328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66360" y="1143000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Rationale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435608"/>
            <a:ext cx="22860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481328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Epochs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34640" y="1435608"/>
            <a:ext cx="22860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1481328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30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1435608"/>
            <a:ext cx="484632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66360" y="1481328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Sufficient given pretrained backbone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1773936"/>
            <a:ext cx="22860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181965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Optimizer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34640" y="1773936"/>
            <a:ext cx="22860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0360" y="181965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AdamW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0" y="1773936"/>
            <a:ext cx="48463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66360" y="1819656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Weight decay regularisation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112264"/>
            <a:ext cx="22860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15798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Learning rate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34640" y="2112264"/>
            <a:ext cx="22860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80360" y="215798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1.5e-4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2112264"/>
            <a:ext cx="484632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66360" y="2157984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Conservative for pretrained backbone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2450592"/>
            <a:ext cx="22860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2496312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Weight decay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34640" y="2450592"/>
            <a:ext cx="22860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80360" y="2496312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0.05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0" y="2450592"/>
            <a:ext cx="48463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66360" y="2496312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Strong regularisation (ViT style)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2788920"/>
            <a:ext cx="22860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283464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Scheduler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834640" y="2788920"/>
            <a:ext cx="22860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80360" y="283464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Cosine + 10-ep warmup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120640" y="2788920"/>
            <a:ext cx="484632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66360" y="2834640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Smooth convergence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3127248"/>
            <a:ext cx="22860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3172968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Loss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34640" y="3127248"/>
            <a:ext cx="22860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80360" y="3172968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Focal Loss (γ=2.0)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120640" y="3127248"/>
            <a:ext cx="48463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66360" y="3172968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Down-weights easy good samples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3465576"/>
            <a:ext cx="22860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351129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Sampler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834640" y="3465576"/>
            <a:ext cx="22860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880360" y="351129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Balanced (good/defective)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120640" y="3465576"/>
            <a:ext cx="484632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166360" y="3511296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Prevents gradient starvation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3803904"/>
            <a:ext cx="22860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4360" y="384962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Threshold τ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834640" y="3803904"/>
            <a:ext cx="22860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880360" y="384962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0.65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20640" y="3803904"/>
            <a:ext cx="48463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166360" y="3849624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Tuned on val; maximises defect recall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4325112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333333"/>
                </a:solidFill>
              </a:rPr>
              <a:t>Focal Loss: FL(p) = −(1−p)^γ log(p)   A sample predicted at 90% confidence contributes only (0.1)² = 0.01× the weight of standard cross-entropy — forcing focus on ambiguous defect examples.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Training: Stage 2 — Defect-Type Classifier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916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E5FF"/>
                </a:solidFill>
              </a:rPr>
              <a:t>Goal: discriminate 8 defect types with no "good" class competition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2286000" cy="338328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Hyperparameter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0" y="1097280"/>
            <a:ext cx="2468880" cy="338328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114300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0" y="1097280"/>
            <a:ext cx="4663440" cy="338328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49240" y="1143000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Rationale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435608"/>
            <a:ext cx="22860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481328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Epochs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34640" y="1435608"/>
            <a:ext cx="246888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148132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60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0" y="1435608"/>
            <a:ext cx="466344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9240" y="1481328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Longer — 8-way discrimination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1773936"/>
            <a:ext cx="22860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181965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Optimizer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34640" y="1773936"/>
            <a:ext cx="24688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0360" y="1819656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AdamW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0" y="1773936"/>
            <a:ext cx="466344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49240" y="1819656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112264"/>
            <a:ext cx="22860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15798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Learning rate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34640" y="2112264"/>
            <a:ext cx="246888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80360" y="2157984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1e-4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0" y="2112264"/>
            <a:ext cx="466344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49240" y="2157984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Slightly lower; fine-grained task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2450592"/>
            <a:ext cx="22860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2496312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Weight decay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34640" y="2450592"/>
            <a:ext cx="24688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80360" y="249631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0.01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03520" y="2450592"/>
            <a:ext cx="466344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49240" y="2496312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Less aggressive; small dataset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2788920"/>
            <a:ext cx="22860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283464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Scheduler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834640" y="2788920"/>
            <a:ext cx="246888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80360" y="283464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Cosine annealing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03520" y="2788920"/>
            <a:ext cx="466344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49240" y="2834640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3127248"/>
            <a:ext cx="22860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3172968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Loss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34640" y="3127248"/>
            <a:ext cx="24688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80360" y="317296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CE + label smooth (ε=0.1)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303520" y="3127248"/>
            <a:ext cx="466344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49240" y="3172968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Prevents overconfidence on tiny classes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3465576"/>
            <a:ext cx="22860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351129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Sampler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834640" y="3465576"/>
            <a:ext cx="246888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880360" y="3511296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Balanced (8 defect classes)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03520" y="3465576"/>
            <a:ext cx="466344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349240" y="3511296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Equal class frequency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3803904"/>
            <a:ext cx="22860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4360" y="384962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Inference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834640" y="3803904"/>
            <a:ext cx="24688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880360" y="3849624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Prototype cosine similarity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303520" y="3803904"/>
            <a:ext cx="466344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349240" y="3849624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No retraining for new classes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4325112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333333"/>
                </a:solidFill>
              </a:rPr>
              <a:t>Label smoothing ε=0.1: replaces hard one-hot targets with soft distributions, regularising the output and producing better-calibrated probabilities when training on 8–50 samples/class.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Few-Shot Inference via TTA-Averaged Prototypes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1672" cy="24688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08792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1A1A2E"/>
                </a:solidFill>
                <a:latin typeface="Courier New"/>
              </a:rPr>
              <a:t># 4 augmented views per training image: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# identity,  h-flip,  v-flip,  h+v-flip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/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for each class c: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    prototype[c] = mean(L2_normalize(embed(aug_i(x)))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                        for all x in class c, all aug_i)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/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# Inference (single forward pass):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embedding    = L2_normalize(model.get_embedding(image))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prediction   = argmax(cosine_similarity(embedding, prototypes))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94760"/>
            <a:ext cx="11091672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333333"/>
                </a:solidFill>
              </a:rPr>
              <a:t>• TTA on prototypes: flip-invariant class centroids — stable, representative embeddings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333333"/>
                </a:solidFill>
              </a:rPr>
              <a:t>• Single-image inference against stable prototypes outperforms 4-image test TTA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333333"/>
                </a:solidFill>
              </a:rPr>
              <a:t>• 0.909 balanced accuracy (TTA-protos)  vs.  0.880 (test-time TTA) — test TTA adds noise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333333"/>
                </a:solidFill>
              </a:rPr>
              <a:t>• Faster too: 1 forward pass at test time instead of 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Few-Shot Extensibility — No Retraining Required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333333"/>
                </a:solidFill>
              </a:rPr>
              <a:t>New defect types can be registered at runtime from ≥1 labelled example: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11091672" cy="15544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0879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1A1A2E"/>
                </a:solidFill>
                <a:latin typeface="Courier New"/>
              </a:rPr>
              <a:t># Register a new defect class at runtime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python classify.py image.png --cascade --register new_defect examples/*.png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/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# Internally: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new_proto = mean(L2_normalize(model.get_embedding(x)) for x in examples)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prototypes["new_defect"] = new_proto   # no model weight update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9184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71C5"/>
                </a:solidFill>
              </a:rPr>
              <a:t>N-shot performance on held-out validation (prototype inference):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657600"/>
            <a:ext cx="2743200" cy="338328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70332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N-shot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3657600"/>
            <a:ext cx="2743200" cy="338328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370332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Accuracy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95928"/>
            <a:ext cx="27432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404164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1-shot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3995928"/>
            <a:ext cx="27432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404164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80.1%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334256"/>
            <a:ext cx="27432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4379976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2-shot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4334256"/>
            <a:ext cx="27432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37560" y="4379976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80.7%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672584"/>
            <a:ext cx="27432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718304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5-shot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91840" y="4672584"/>
            <a:ext cx="27432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4718304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80.7%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010912"/>
            <a:ext cx="27432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8-shot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91840" y="5010912"/>
            <a:ext cx="27432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37560" y="5056632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80.1%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349240"/>
            <a:ext cx="27432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539496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20-shot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91840" y="5349240"/>
            <a:ext cx="27432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37560" y="539496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79.5%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Results: Progression of Approaches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916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E5FF"/>
                </a:solidFill>
              </a:rPr>
              <a:t>All evaluated on the same 20% stratified validation split (seed=42)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5029200" cy="338328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Approach</a:t>
            </a:r>
          </a:p>
        </p:txBody>
      </p:sp>
      <p:sp>
        <p:nvSpPr>
          <p:cNvPr id="7" name="Rectangle 6"/>
          <p:cNvSpPr/>
          <p:nvPr/>
        </p:nvSpPr>
        <p:spPr>
          <a:xfrm>
            <a:off x="5577840" y="1097280"/>
            <a:ext cx="1737360" cy="338328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23560" y="114300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Overall Acc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97280"/>
            <a:ext cx="1737360" cy="338328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60920" y="114300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Bal. Acc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0" y="1097280"/>
            <a:ext cx="1737360" cy="338328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114300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Defect Recall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1435608"/>
            <a:ext cx="50292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1481328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Single EfficientNet-B0 baseline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77840" y="1435608"/>
            <a:ext cx="173736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23560" y="148132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91.1%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1435608"/>
            <a:ext cx="173736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60920" y="148132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0.28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1435608"/>
            <a:ext cx="173736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148132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~20%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1773936"/>
            <a:ext cx="50292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181965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+ Tau-norm + logit adjustment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77840" y="1773936"/>
            <a:ext cx="173736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23560" y="181965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85.7%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0" y="1773936"/>
            <a:ext cx="173736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60920" y="181965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0.56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52560" y="1773936"/>
            <a:ext cx="173736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98280" y="181965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52.5%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2112264"/>
            <a:ext cx="50292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215798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EfficientNet cascade (τ=0.35)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77840" y="2112264"/>
            <a:ext cx="173736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23560" y="2157984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85.1%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0" y="2112264"/>
            <a:ext cx="173736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60920" y="2157984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0.781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52560" y="2112264"/>
            <a:ext cx="173736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98280" y="2157984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70.7%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2450592"/>
            <a:ext cx="50292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2496312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ViT + MAE pretraining cascade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77840" y="2450592"/>
            <a:ext cx="173736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23560" y="249631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84.7%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0" y="2450592"/>
            <a:ext cx="173736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60920" y="249631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0.780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52560" y="2450592"/>
            <a:ext cx="173736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98280" y="249631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78.0%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2788920"/>
            <a:ext cx="50292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4360" y="2834640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EfficientNet cascade + test TTA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577840" y="2788920"/>
            <a:ext cx="173736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23560" y="283464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87.4%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315200" y="2788920"/>
            <a:ext cx="173736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60920" y="283464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0.867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52560" y="2788920"/>
            <a:ext cx="173736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98280" y="283464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~87%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3127248"/>
            <a:ext cx="50292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4360" y="3172968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DINOv2 cascade (τ=0.65)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77840" y="3127248"/>
            <a:ext cx="173736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23560" y="317296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87.4%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5200" y="3127248"/>
            <a:ext cx="173736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360920" y="317296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0.881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052560" y="3127248"/>
            <a:ext cx="173736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098280" y="317296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87.5%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3465576"/>
            <a:ext cx="50292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94360" y="351129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DINOv2 + TTA-protos  ✅ FINAL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577840" y="3465576"/>
            <a:ext cx="173736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623560" y="351129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87.7%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315200" y="3465576"/>
            <a:ext cx="173736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360920" y="351129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0.909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052560" y="3465576"/>
            <a:ext cx="173736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098280" y="351129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91.25%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621792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333333"/>
                </a:solidFill>
              </a:rPr>
              <a:t>• Each step addressed a specific, identified root cause — not hyperparameter tweaking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Final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916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E5FF"/>
                </a:solidFill>
              </a:rPr>
              <a:t>DINOv2 Cascade · TTA-Averaged Prototypes · τ = 0.65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3200400" cy="4114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33856"/>
            <a:ext cx="30175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Overall Accuracy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133856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71C5"/>
                </a:solidFill>
              </a:rPr>
              <a:t>87.7%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3200400" cy="4114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36776"/>
            <a:ext cx="30175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Balanced Accuracy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636776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71C5"/>
                </a:solidFill>
              </a:rPr>
              <a:t>0.909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03120"/>
            <a:ext cx="3200400" cy="4114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39696"/>
            <a:ext cx="30175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Avg. Defect Recall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139696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71C5"/>
                </a:solidFill>
              </a:rPr>
              <a:t>91.25%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185416"/>
            <a:ext cx="4114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33333"/>
                </a:solidFill>
              </a:rPr>
              <a:t>(business-critical metric)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606040"/>
            <a:ext cx="3200400" cy="4114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642616"/>
            <a:ext cx="30175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Inference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2642616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71C5"/>
                </a:solidFill>
              </a:rPr>
              <a:t>~46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688336"/>
            <a:ext cx="4114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33333"/>
                </a:solidFill>
              </a:rPr>
              <a:t>(warm GPU, single image)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29184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71C5"/>
                </a:solidFill>
              </a:rPr>
              <a:t>Per-class recall: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639312"/>
            <a:ext cx="1371600" cy="338328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685032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Class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20240" y="3639312"/>
            <a:ext cx="914400" cy="338328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65960" y="3685032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Train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34640" y="3639312"/>
            <a:ext cx="731520" cy="338328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80360" y="3685032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Val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66160" y="3639312"/>
            <a:ext cx="1097280" cy="338328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1880" y="3685032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Recall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63440" y="3639312"/>
            <a:ext cx="5303520" cy="338328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09160" y="3685032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Notes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977640"/>
            <a:ext cx="13716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023360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defect1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20240" y="3977640"/>
            <a:ext cx="9144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65960" y="4023360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16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34640" y="3977640"/>
            <a:ext cx="73152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80360" y="4023360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66160" y="3977640"/>
            <a:ext cx="109728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11880" y="402336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100%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63440" y="3977640"/>
            <a:ext cx="530352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09160" y="4023360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4315968"/>
            <a:ext cx="13716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4361688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defect2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920240" y="4315968"/>
            <a:ext cx="9144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965960" y="4361688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~36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34640" y="4315968"/>
            <a:ext cx="7315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80360" y="4361688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~9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566160" y="4315968"/>
            <a:ext cx="10972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11880" y="43616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100%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63440" y="4315968"/>
            <a:ext cx="53035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09160" y="4361688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50" name="Rectangle 49"/>
          <p:cNvSpPr/>
          <p:nvPr/>
        </p:nvSpPr>
        <p:spPr>
          <a:xfrm>
            <a:off x="548640" y="4654296"/>
            <a:ext cx="13716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4360" y="4700016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defect3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20240" y="4654296"/>
            <a:ext cx="9144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965960" y="4700016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834640" y="4654296"/>
            <a:ext cx="73152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880360" y="4700016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566160" y="4654296"/>
            <a:ext cx="109728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11880" y="4700016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100%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663440" y="4654296"/>
            <a:ext cx="530352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09160" y="4700016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60" name="Rectangle 59"/>
          <p:cNvSpPr/>
          <p:nvPr/>
        </p:nvSpPr>
        <p:spPr>
          <a:xfrm>
            <a:off x="548640" y="4992624"/>
            <a:ext cx="13716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360" y="5038344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defect4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920240" y="4992624"/>
            <a:ext cx="9144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965960" y="5038344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11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834640" y="4992624"/>
            <a:ext cx="7315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880360" y="5038344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566160" y="4992624"/>
            <a:ext cx="10972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611880" y="5038344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663440" y="4992624"/>
            <a:ext cx="53035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709160" y="5038344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70" name="Rectangle 69"/>
          <p:cNvSpPr/>
          <p:nvPr/>
        </p:nvSpPr>
        <p:spPr>
          <a:xfrm>
            <a:off x="548640" y="5330952"/>
            <a:ext cx="13716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94360" y="5376672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defect5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920240" y="5330952"/>
            <a:ext cx="9144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965960" y="5376672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20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834640" y="5330952"/>
            <a:ext cx="73152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880360" y="5376672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566160" y="5330952"/>
            <a:ext cx="109728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11880" y="5376672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80%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663440" y="5330952"/>
            <a:ext cx="530352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09160" y="5376672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80" name="Rectangle 79"/>
          <p:cNvSpPr/>
          <p:nvPr/>
        </p:nvSpPr>
        <p:spPr>
          <a:xfrm>
            <a:off x="548640" y="5669280"/>
            <a:ext cx="13716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94360" y="5715000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defect8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920240" y="5669280"/>
            <a:ext cx="9144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965960" y="5715000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34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834640" y="5669280"/>
            <a:ext cx="7315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880360" y="5715000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8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566160" y="5669280"/>
            <a:ext cx="10972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11880" y="571500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50%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663440" y="5669280"/>
            <a:ext cx="53035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09160" y="5715000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Stage 1 bottleneck — visual overlap with good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40" y="6007608"/>
            <a:ext cx="13716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94360" y="6053328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defect9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920240" y="6007608"/>
            <a:ext cx="9144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965960" y="6053328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6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834640" y="6007608"/>
            <a:ext cx="73152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880360" y="6053328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1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566160" y="6007608"/>
            <a:ext cx="109728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11880" y="605332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100%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63440" y="6007608"/>
            <a:ext cx="530352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09160" y="6053328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1 val sample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40" y="6345936"/>
            <a:ext cx="13716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94360" y="6391656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defect10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920240" y="6345936"/>
            <a:ext cx="9144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965960" y="6391656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30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834640" y="6345936"/>
            <a:ext cx="7315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880360" y="6391656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8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566160" y="6345936"/>
            <a:ext cx="10972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611880" y="6391656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100%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663440" y="6345936"/>
            <a:ext cx="53035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709160" y="6391656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Cascade Confusion Matrix</a:t>
            </a:r>
          </a:p>
        </p:txBody>
      </p:sp>
      <p:pic>
        <p:nvPicPr>
          <p:cNvPr id="4" name="Picture 3" descr="plot_cascade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551" y="1143000"/>
            <a:ext cx="5657849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00800"/>
            <a:ext cx="110916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333333"/>
                </a:solidFill>
              </a:rPr>
              <a:t>Strong diagonal — defect types well-separated. Main off-diagonal: defect8 classified as "good" by Stage 1.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t-SNE Embedding Space (256-d → 2-d)</a:t>
            </a:r>
          </a:p>
        </p:txBody>
      </p:sp>
      <p:pic>
        <p:nvPicPr>
          <p:cNvPr id="4" name="Picture 3" descr="plot6_tsne_embedd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419" y="1143000"/>
            <a:ext cx="6466114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00800"/>
            <a:ext cx="110916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333333"/>
                </a:solidFill>
              </a:rPr>
              <a:t>DINOv2 embeddings form tight, separable clusters per defect type — even with 8–50 training samples.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Classification Accuracy vs. Training Set Size</a:t>
            </a:r>
          </a:p>
        </p:txBody>
      </p:sp>
      <p:pic>
        <p:nvPicPr>
          <p:cNvPr id="4" name="Picture 3" descr="plot3_class_accuracy_vs_occur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143000"/>
            <a:ext cx="10177272" cy="36347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00800"/>
            <a:ext cx="110916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333333"/>
                </a:solidFill>
              </a:rPr>
              <a:t>Most defect classes achieve 100% recall regardless of training set size. Defect8 is the exception.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ROC Curves — Per-Class AUC</a:t>
            </a:r>
          </a:p>
        </p:txBody>
      </p:sp>
      <p:pic>
        <p:nvPicPr>
          <p:cNvPr id="4" name="Picture 3" descr="plot5_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1676" y="1143000"/>
            <a:ext cx="67056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00800"/>
            <a:ext cx="110916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333333"/>
                </a:solidFill>
              </a:rPr>
              <a:t>High AUC across all defect classes. Defect8 shows the flattest ROC — Stage 1 discrimination difficulty.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Few-Shot Learning Curve</a:t>
            </a:r>
          </a:p>
        </p:txBody>
      </p:sp>
      <p:pic>
        <p:nvPicPr>
          <p:cNvPr id="4" name="Picture 3" descr="plot4_few_shot_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116" y="1143000"/>
            <a:ext cx="804672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00800"/>
            <a:ext cx="110916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333333"/>
                </a:solidFill>
              </a:rPr>
              <a:t>Performance stable from 1-shot onward — DINOv2 embeddings are robust at any support size.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Hardware &amp; Timing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4114800" cy="338328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43000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Component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97280"/>
            <a:ext cx="7315200" cy="338328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09160" y="1143000"/>
            <a:ext cx="7223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Specification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35608"/>
            <a:ext cx="41148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481328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Training machine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435608"/>
            <a:ext cx="73152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1481328"/>
            <a:ext cx="7223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DGX Spark, NVIDIA GB10 (128 GB VRAM)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773936"/>
            <a:ext cx="41148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819656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MAE pretraining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1773936"/>
            <a:ext cx="73152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819656"/>
            <a:ext cx="7223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~70 min (300 epochs)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112264"/>
            <a:ext cx="41148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157984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Cascade training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2112264"/>
            <a:ext cx="73152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9160" y="2157984"/>
            <a:ext cx="7223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~85 min (Stage 1: 30 ep, Stage 2: 60 ep)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450592"/>
            <a:ext cx="41148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496312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Inference — warm GPU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63440" y="2450592"/>
            <a:ext cx="73152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09160" y="2496312"/>
            <a:ext cx="7223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~46 ms per image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788920"/>
            <a:ext cx="41148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834640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Inference — cold start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2788920"/>
            <a:ext cx="73152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09160" y="2834640"/>
            <a:ext cx="7223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~600 ms (model loading)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127248"/>
            <a:ext cx="41148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172968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Model checkpoint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63440" y="3127248"/>
            <a:ext cx="73152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09160" y="3172968"/>
            <a:ext cx="7223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84 MB (DINOv2 ViT-S/14)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465576"/>
            <a:ext cx="41148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511296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Competition requirement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63440" y="3465576"/>
            <a:ext cx="73152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09160" y="3511296"/>
            <a:ext cx="7223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≤1 second per image  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032504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333333"/>
                </a:solidFill>
              </a:rPr>
              <a:t>GB10 has compute capability 12.1 (exceeds PyTorch's official max of 12.0) — runs without issue.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Design Decision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2286000" cy="338328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4300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834640" y="1097280"/>
            <a:ext cx="2560320" cy="338328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114300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Choice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5394960" y="1097280"/>
            <a:ext cx="6400800" cy="338328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40680" y="1143000"/>
            <a:ext cx="6309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Why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435608"/>
            <a:ext cx="22860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481328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Architecture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34640" y="1435608"/>
            <a:ext cx="256032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1481328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Two-stage cascade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94960" y="1435608"/>
            <a:ext cx="64008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40680" y="1481328"/>
            <a:ext cx="6309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Irreconcilable objectives in single model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773936"/>
            <a:ext cx="22860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181965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Backbone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34640" y="1773936"/>
            <a:ext cx="25603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80360" y="1819656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DINOv2 ViT-S/14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4960" y="1773936"/>
            <a:ext cx="64008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1819656"/>
            <a:ext cx="6309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+5–8% bal. acc.; cosine-aligned embeddings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112264"/>
            <a:ext cx="22860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15798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Loss (Stage 1)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34640" y="2112264"/>
            <a:ext cx="256032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80360" y="2157984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Focal Loss (γ=2.0)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94960" y="2112264"/>
            <a:ext cx="64008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40680" y="2157984"/>
            <a:ext cx="6309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Auto-focuses on hard defect examples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2450592"/>
            <a:ext cx="22860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496312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Loss (Stage 2)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34640" y="2450592"/>
            <a:ext cx="25603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80360" y="2496312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CE + label smoothing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94960" y="2450592"/>
            <a:ext cx="64008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40680" y="2496312"/>
            <a:ext cx="6309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Prevents overconfidence on small classes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2788920"/>
            <a:ext cx="22860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283464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Inference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34640" y="2788920"/>
            <a:ext cx="256032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80360" y="283464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Prototype cosine sim.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94960" y="2788920"/>
            <a:ext cx="64008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40680" y="2834640"/>
            <a:ext cx="6309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No retraining for new defect types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3127248"/>
            <a:ext cx="22860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3172968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TTA strategy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34640" y="3127248"/>
            <a:ext cx="25603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80360" y="3172968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On prototypes, not test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94960" y="3127248"/>
            <a:ext cx="64008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40680" y="3172968"/>
            <a:ext cx="6309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Stabilises centroids; avoids test noise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3465576"/>
            <a:ext cx="22860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351129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Threshold 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34640" y="3465576"/>
            <a:ext cx="256032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880360" y="3511296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0.65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394960" y="3465576"/>
            <a:ext cx="64008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40680" y="3511296"/>
            <a:ext cx="6309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Tuned: max defect recall, good recall ≥ 80%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Limitations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CC4400"/>
                </a:solidFill>
              </a:rPr>
              <a:t>Current bottleneck: defect8 (50% recall) — Stage 1 visual overlap with "good" chips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3474720" cy="338328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5270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Limitation / Opportunity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1481328"/>
            <a:ext cx="2743200" cy="338328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9080" y="152704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Current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481328"/>
            <a:ext cx="5029200" cy="338328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12280" y="1527048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Proposed Fix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819656"/>
            <a:ext cx="347472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6537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defect8 Stage 1 discrimination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360" y="1819656"/>
            <a:ext cx="27432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9080" y="1865376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50% recall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1819656"/>
            <a:ext cx="50292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186537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Per-class τ or dedicated anomaly detector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157984"/>
            <a:ext cx="34747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20370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Backbone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157984"/>
            <a:ext cx="27432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9080" y="2203704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ViT-Small/14 (22M params)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2157984"/>
            <a:ext cx="50292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12280" y="220370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ViT-Base (86M params), ~90ms inference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496312"/>
            <a:ext cx="347472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54203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Image resolution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360" y="2496312"/>
            <a:ext cx="27432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69080" y="2542032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224×224 (from ≤1500×2500)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2496312"/>
            <a:ext cx="50292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2542032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Tiled inference at native resolution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2834640"/>
            <a:ext cx="34747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288036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Static prototypes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2834640"/>
            <a:ext cx="27432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69080" y="288036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Computed at train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0" y="2834640"/>
            <a:ext cx="50292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12280" y="2880360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Online EMA updates from production data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172968"/>
            <a:ext cx="347472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321868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Val set size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23360" y="3172968"/>
            <a:ext cx="27432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069080" y="321868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1–2 samples/rare class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66560" y="3172968"/>
            <a:ext cx="5029200" cy="3383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12280" y="3218688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More labelled data improves estimates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9436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333333"/>
                </a:solidFill>
              </a:rPr>
              <a:t>• All improvements are additive — the cascade architecture remains the correct foundation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CCE5FF"/>
                </a:solidFill>
              </a:rPr>
              <a:t>DINOv2 ViT-Small/14  ·  Two-Stage Cascade  ·  TTA-Averaged Prototypes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110916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Overall Accuracy:  87.7%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11880"/>
            <a:ext cx="110916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Balanced Accuracy:  0.909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10916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Avg. Defect Recall:  91.25%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12064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ACCFF"/>
                </a:solidFill>
              </a:rPr>
              <a:t>python evaluate.py --cascade --dinov2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