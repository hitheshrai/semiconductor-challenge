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Few-Shot Semiconductor Defect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FF"/>
                </a:solidFill>
              </a:rPr>
              <a:t>ASU / Intel Semiconductor Solutions Challenge 2026 — Problem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CCFF"/>
                </a:solidFill>
              </a:rPr>
              <a:t>Two-Stage Cascade  ·  DINOv2  ·  Prototype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5FF"/>
                </a:solidFill>
              </a:rPr>
              <a:t>Hithesh Rai Purushothama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Wafer inspection at Intel scale — where misses cost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167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33333"/>
                </a:solidFill>
              </a:rPr>
              <a:t>• 3,778 grayscale wafer images across 9 classes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3333"/>
                </a:solidFill>
              </a:rPr>
              <a:t>• Severe class imbalance: 94.5% "good",  8–50 samples per defect type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3333"/>
                </a:solidFill>
              </a:rPr>
              <a:t>• Must detect all 8 defect types with ≤1 labelled example possible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3333"/>
                </a:solidFill>
              </a:rPr>
              <a:t>• Shipping a defective chip as "good" is far more costly than a false alarm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3333"/>
                </a:solidFill>
              </a:rPr>
              <a:t>• Critical metric: defect recall — not overall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80560"/>
            <a:ext cx="18288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26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480560"/>
            <a:ext cx="13716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4526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4480560"/>
            <a:ext cx="18288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4526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4480560"/>
            <a:ext cx="13716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4526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480560"/>
            <a:ext cx="18288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526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4480560"/>
            <a:ext cx="13716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4526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18888"/>
            <a:ext cx="1828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646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good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818888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4864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3,572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4818888"/>
            <a:ext cx="1828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48646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4818888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864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4818888"/>
            <a:ext cx="1828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48646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818888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4864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57216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02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5157216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52029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38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5157216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5202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5157216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52029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5157216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5202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5157216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52029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495544"/>
            <a:ext cx="1828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541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5495544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23160" y="5541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5495544"/>
            <a:ext cx="1828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60" y="5541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5495544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23560" y="5541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~45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5495544"/>
            <a:ext cx="1828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5541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5495544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5541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Standard Classifiers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A single model faces irreconcilable objectives: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1783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0879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ourier New"/>
              </a:rPr>
              <a:t>Objective 1 (Stage 1): "good vs. defective"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→ 94.5% good → model predicts "good" for everything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→ defect recall ≈ 0%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Objective 2 (Stage 2): "which defect type?"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→ 8 rare classes, 8–50 samples each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→ overwhelmed by 3,572 "good" samples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5"/>
                </a:solidFill>
              </a:rPr>
              <a:t>Baseline single model result: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41148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886200"/>
            <a:ext cx="2743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9319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24528"/>
            <a:ext cx="4114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702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Overall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224528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42702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91.1%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62856"/>
            <a:ext cx="4114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Balanced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562856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6085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0.28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01184"/>
            <a:ext cx="4114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469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Avg. Defect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901184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946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~20%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0000"/>
                </a:solidFill>
              </a:rPr>
              <a:t>High overall accuracy masks near-complete failure to detect defects.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Solution: Two-Stage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Decompose into two tractable, independently optimisable problems.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3840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0879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Courier New"/>
              </a:rPr>
              <a:t>Input Image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▼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┌──────────────────────────────────┐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│ Stage 1: Binary Classifier    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│ "Is this wafer defective?"    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│  Focal Loss + Balanced Sampler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└──────────────┬────────────────────┘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     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┌────────┴────────┐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defect_prob &lt; 0.65   defect_prob ≥ 0.65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│                  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▼                      ▼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predict "good"    ┌──────────────────────────────┐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              │ Stage 2: Defect-Type Classifier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              │ "Which of the 8 defect types?"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              │  Prototype cosine similarity    │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                └─────────────────────────────────┘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71C5"/>
                </a:solidFill>
              </a:rPr>
              <a:t>Each stage trains on a balanced dataset with no conflicting objectives.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Backbone: DINOv2 ViT-Small/14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Pretrained on 142M images using self-supervised DINO + iBOT objectives (Meta AI, 2023)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47472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508760"/>
            <a:ext cx="292608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5544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Supervised ImageNet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508760"/>
            <a:ext cx="292608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DINOv2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34747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928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Pretraining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847088"/>
            <a:ext cx="29260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18928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~14M labelled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847088"/>
            <a:ext cx="29260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8928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142M unlabelled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85416"/>
            <a:ext cx="3474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311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CLS token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185416"/>
            <a:ext cx="29260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2311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185416"/>
            <a:ext cx="29260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2311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Excellent for clustering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23744"/>
            <a:ext cx="34747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694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Cosine similarity alignment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523744"/>
            <a:ext cx="29260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25694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Partial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23744"/>
            <a:ext cx="29260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25694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Direct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62072"/>
            <a:ext cx="3474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9077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Cascade bal. acc. (this work)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862072"/>
            <a:ext cx="29260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2907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0.781 (EfficientNet)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862072"/>
            <a:ext cx="29260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2907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0.909 (DINOv2)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383280"/>
            <a:ext cx="110916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CLS token embedding designed to cluster visually similar patches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Self-supervised objectives align naturally with prototype-based inference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No labelled data needed for pretraining — scales to 142M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3611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08792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ourier New"/>
              </a:rPr>
              <a:t>Input (224×224 grayscale → 3-channel RGB replica)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DINOv2 ViT-Small/14  (patch size 14, 384-dim CLS token)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Embedding Head: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Linear(384 → 256) → BatchNorm → ReLU → Dropout(0.35)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→ Linear(256 → 256) → BatchNorm → L2-Normalize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Unit Hypersphere  (‖e‖₂ = 1)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Cosine similarity to class prototypes  → 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110916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L2-normalisation: all embeddings projected onto unit sphere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Cosine similarity reduces to a dot product — efficiently computable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Dropout(0.35): critical regularisation with only 8–50 samples per defect class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Grayscale → RGB: single channel replicated; no information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Training: Stage 1 — Binary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Goal: maximise defect recall while good-chip recall ≥ 80%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Hyperparameter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097280"/>
            <a:ext cx="22860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143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097280"/>
            <a:ext cx="484632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1430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35608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81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Epochs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435608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481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435608"/>
            <a:ext cx="4846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4813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Sufficient given pretrained backbone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773936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8196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Optimizer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773936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196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AdamW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773936"/>
            <a:ext cx="4846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181965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Weight decay regularisation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112264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157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Learning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112264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157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1.5e-4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112264"/>
            <a:ext cx="4846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21579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Conservative for pretrained backbone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450592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4963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Weight decay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450592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24963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0.05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450592"/>
            <a:ext cx="4846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24963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Strong regularisation (ViT style)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788920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834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Scheduler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2788920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2834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Cosine + 10-ep warmup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788920"/>
            <a:ext cx="4846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28346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Smooth convergence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127248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172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127248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172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Focal Loss (γ=2.0)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3127248"/>
            <a:ext cx="4846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66360" y="31729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Down-weights easy good samples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465576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511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Sampler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3465576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360" y="3511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Balanced (good/defective)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3465576"/>
            <a:ext cx="4846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35112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Prevents gradient starvation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803904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8496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Threshold 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3803904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360" y="38496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0.65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3803904"/>
            <a:ext cx="4846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66360" y="38496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Tuned on val; maximises defect recall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Focal Loss: FL(p) = −(1−p)^γ log(p)   A sample predicted at 90% confidence contributes only (0.1)² = 0.01× the weight of standard cross-entropy — forcing focus on ambiguous defect examples.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Training: Stage 2 — Defect-Type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Goal: discriminate 8 defect types with no "good" class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2860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Hyperparameter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097280"/>
            <a:ext cx="246888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1430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097280"/>
            <a:ext cx="466344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143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35608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81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Epochs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435608"/>
            <a:ext cx="24688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4813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435608"/>
            <a:ext cx="466344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481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Longer — 8-way discrimination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773936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8196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Optimizer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773936"/>
            <a:ext cx="24688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196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AdamW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773936"/>
            <a:ext cx="4663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8196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112264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157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Learning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112264"/>
            <a:ext cx="24688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1579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1e-4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2112264"/>
            <a:ext cx="466344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21579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Slightly lower; fine-grained task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450592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4963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Weight decay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450592"/>
            <a:ext cx="24688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24963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2450592"/>
            <a:ext cx="4663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24963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Less aggressive; small dataset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788920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834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Scheduler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2788920"/>
            <a:ext cx="24688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28346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Cosine annealing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2788920"/>
            <a:ext cx="466344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28346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127248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172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127248"/>
            <a:ext cx="24688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1729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CE + label smooth (ε=0.1)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3127248"/>
            <a:ext cx="4663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0" y="31729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Prevents overconfidence on tiny classes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465576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511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Sampler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3465576"/>
            <a:ext cx="24688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360" y="35112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Balanced (8 defect classes)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3465576"/>
            <a:ext cx="466344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49240" y="35112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Equal class frequency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803904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8496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Inference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3803904"/>
            <a:ext cx="24688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360" y="384962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Prototype cosine similarity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0" y="3803904"/>
            <a:ext cx="4663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49240" y="38496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 retraining for new classes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325112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Label smoothing ε=0.1: replaces hard one-hot targets with soft distributions, regularising the output and producing better-calibrated probabilities when training on 8–50 samples/class.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Few-Shot Inference via TTA-Averaged Prototypes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0879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ourier New"/>
              </a:rPr>
              <a:t># 4 augmented views per training image: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# identity,  h-flip,  v-flip,  h+v-flip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for each class c: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prototype[c] = mean(L2_normalize(embed(aug_i(x)))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                        for all x in class c, all aug_i)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# Inference (single forward pass):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embedding    = L2_normalize(model.get_embedding(image))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prediction   = argmax(cosine_similarity(embedding, prototypes))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10916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TTA on prototypes: flip-invariant class centroids — stable, representative embeddings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Single-image inference against stable prototypes outperforms 4-image test TTA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0.909 balanced accuracy (TTA-protos)  vs.  0.880 (test-time TTA) — test TTA adds noise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• Faster too: 1 forward pass at test time instead of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Few-Shot Extensibility — No Retraining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New defect types can be registered at runtime from ≥1 labelled example: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1554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087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ourier New"/>
              </a:rPr>
              <a:t># Register a new defect class at runtime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python classify.py image.png --cascade --register new_defect examples/*.png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# Internally: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new_proto = mean(L2_normalize(model.get_embedding(x)) for x in examples)</a:t>
            </a:r>
          </a:p>
          <a:p>
            <a:r>
              <a:rPr sz="1400">
                <a:solidFill>
                  <a:srgbClr val="1A1A2E"/>
                </a:solidFill>
                <a:latin typeface="Courier New"/>
              </a:rPr>
              <a:t>prototypes["new_defect"] = new_proto   # no model weight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1C5"/>
                </a:solidFill>
              </a:rPr>
              <a:t>N-shot performance on held-out validation (prototype inference):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2743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N-shot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657600"/>
            <a:ext cx="2743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95928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1-shot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995928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40416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80.1%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34256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79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2-shot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334256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4379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80.7%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72584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183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5-shot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672584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7183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80.7%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10912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8-shot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010912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50566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80.1%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949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20-shot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349240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53949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79.5%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Progression of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All evaluated on the same 20% stratified validation split (seed=42)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029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097280"/>
            <a:ext cx="173736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143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Overall Acc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097280"/>
            <a:ext cx="173736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143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Bal. 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097280"/>
            <a:ext cx="173736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143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Defect 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435608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813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Single EfficientNet-B0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435608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4813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91.1%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435608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4813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435608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4813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~20%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773936"/>
            <a:ext cx="5029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81965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+ Tau-norm + logit adjustment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773936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85.7%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773936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773936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52.5%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112264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15798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EfficientNet cascade (τ=0.35)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2112264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85.1%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112264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0.781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112264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70.7%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450592"/>
            <a:ext cx="5029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4963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ViT + MAE pretraining cascade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450592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2496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84.7%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2450592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2496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0.780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2450592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2496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78.0%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788920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834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EfficientNet cascade + test TTA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2788920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87.4%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2788920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0.867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2788920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~87%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127248"/>
            <a:ext cx="5029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1729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DINOv2 cascade (τ=0.65)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3127248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31729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87.4%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3127248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20" y="31729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0.881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3127248"/>
            <a:ext cx="17373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31729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87.5%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465576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5112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DINOv2 + TTA-protos  ✅ FINAL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3465576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23560" y="3511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87.7%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3465576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60920" y="3511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0.909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3465576"/>
            <a:ext cx="17373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98280" y="3511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91.25%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2179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Each step addressed a specific, identified root cause — not hyperparameter tweaking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DINOv2 Cascade · TTA-Averaged Prototypes · τ = 0.65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2004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Overall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3385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5"/>
                </a:solidFill>
              </a:rPr>
              <a:t>87.7%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2004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Balanced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3677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5"/>
                </a:solidFill>
              </a:rPr>
              <a:t>0.909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32004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39696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Avg. Defect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3969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5"/>
                </a:solidFill>
              </a:rPr>
              <a:t>91.25%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85416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(business-critical metric)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32004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42616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Inference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642616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C5"/>
                </a:solidFill>
              </a:rPr>
              <a:t>~46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88336"/>
            <a:ext cx="4114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(warm GPU, single image)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918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1C5"/>
                </a:solidFill>
              </a:rPr>
              <a:t>Per-class recall: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39312"/>
            <a:ext cx="13716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85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3639312"/>
            <a:ext cx="9144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368503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639312"/>
            <a:ext cx="73152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68503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639312"/>
            <a:ext cx="109728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6850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639312"/>
            <a:ext cx="530352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6850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77640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23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3977640"/>
            <a:ext cx="9144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40233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977640"/>
            <a:ext cx="731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0233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977640"/>
            <a:ext cx="10972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0233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977640"/>
            <a:ext cx="5303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4023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315968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3616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4315968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43616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~36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315968"/>
            <a:ext cx="731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360" y="43616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~9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4315968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361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315968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4361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654296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7000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0240" y="4654296"/>
            <a:ext cx="9144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65960" y="47000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" y="4654296"/>
            <a:ext cx="731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0360" y="470001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4654296"/>
            <a:ext cx="10972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7000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4654296"/>
            <a:ext cx="5303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47000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992624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0383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20240" y="4992624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65960" y="50383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992624"/>
            <a:ext cx="731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360" y="503834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4992624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11880" y="50383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4992624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9160" y="50383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330952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5376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20240" y="5330952"/>
            <a:ext cx="9144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65960" y="5376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5330952"/>
            <a:ext cx="731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80360" y="53766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5330952"/>
            <a:ext cx="10972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11880" y="537667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80%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5330952"/>
            <a:ext cx="5303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09160" y="5376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5669280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5715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20240" y="5669280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65960" y="5715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34640" y="5669280"/>
            <a:ext cx="731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80360" y="57150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66160" y="5669280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11880" y="57150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50%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63440" y="5669280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09160" y="5715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Stage 1 bottleneck — visual overlap with good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007608"/>
            <a:ext cx="13716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6053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6007608"/>
            <a:ext cx="9144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65960" y="60533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34640" y="6007608"/>
            <a:ext cx="731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80360" y="60533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66160" y="6007608"/>
            <a:ext cx="10972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11880" y="60533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63440" y="6007608"/>
            <a:ext cx="53035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09160" y="60533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 val sample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6345936"/>
            <a:ext cx="1371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4360" y="63916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defect10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20240" y="6345936"/>
            <a:ext cx="914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965960" y="639165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34640" y="6345936"/>
            <a:ext cx="731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80360" y="63916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566160" y="6345936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11880" y="63916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63440" y="6345936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09160" y="63916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Cascade Confusion Matrix</a:t>
            </a:r>
          </a:p>
        </p:txBody>
      </p:sp>
      <p:pic>
        <p:nvPicPr>
          <p:cNvPr id="4" name="Picture 3" descr="plot_cascad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51" y="1143000"/>
            <a:ext cx="5657849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</a:rPr>
              <a:t>Strong diagonal — defect types well-separated. Main off-diagonal: defect8 classified as "good" by Stage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t-SNE Embedding Space (256-d → 2-d)</a:t>
            </a:r>
          </a:p>
        </p:txBody>
      </p:sp>
      <p:pic>
        <p:nvPicPr>
          <p:cNvPr id="4" name="Picture 3" descr="plot6_tsne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419" y="1143000"/>
            <a:ext cx="6466114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</a:rPr>
              <a:t>DINOv2 embeddings form tight, separable clusters per defect type — even with 8–50 training samples.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Classification Accuracy vs. Training Set Size</a:t>
            </a:r>
          </a:p>
        </p:txBody>
      </p:sp>
      <p:pic>
        <p:nvPicPr>
          <p:cNvPr id="4" name="Picture 3" descr="plot3_class_accuracy_vs_occur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43000"/>
            <a:ext cx="10177272" cy="3634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</a:rPr>
              <a:t>Most defect classes achieve 100% recall regardless of training set size. Defect8 is the exception.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ROC Curves — Per-Class AUC</a:t>
            </a:r>
          </a:p>
        </p:txBody>
      </p:sp>
      <p:pic>
        <p:nvPicPr>
          <p:cNvPr id="4" name="Picture 3" descr="plot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676" y="1143000"/>
            <a:ext cx="6705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</a:rPr>
              <a:t>High AUC across all defect classes. Defect8 shows the flattest ROC — Stage 1 discrimination difficulty.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Few-Shot Learning Curve</a:t>
            </a:r>
          </a:p>
        </p:txBody>
      </p:sp>
      <p:pic>
        <p:nvPicPr>
          <p:cNvPr id="4" name="Picture 3" descr="plot4_few_shot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143000"/>
            <a:ext cx="8046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</a:rPr>
              <a:t>Performance stable from 1-shot onward — DINOv2 embeddings are robust at any support size.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Hardware &amp;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1148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97280"/>
            <a:ext cx="7315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14300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Specification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35608"/>
            <a:ext cx="4114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Training 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35608"/>
            <a:ext cx="7315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4813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DGX Spark, NVIDIA GB10 (128 GB VRAM)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114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196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MAE pretraining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773936"/>
            <a:ext cx="7315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81965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~70 min (300 epochs)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12264"/>
            <a:ext cx="4114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1579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Cascade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112264"/>
            <a:ext cx="7315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15798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~85 min (Stage 1: 30 ep, Stage 2: 60 ep)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450592"/>
            <a:ext cx="4114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4963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Inference — warm 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450592"/>
            <a:ext cx="7315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49631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~46 ms per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88920"/>
            <a:ext cx="4114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346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Inference — cold start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788920"/>
            <a:ext cx="7315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83464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~600 ms (model loading)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27248"/>
            <a:ext cx="4114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729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Model checkpoint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127248"/>
            <a:ext cx="7315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1729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84 MB (DINOv2 ViT-S/14)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65576"/>
            <a:ext cx="4114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51129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Competition requirement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465576"/>
            <a:ext cx="7315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351129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≤1 second per image  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3250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GB10 has compute capability 12.1 (exceeds PyTorch's official max of 12.0) — runs without issue.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Design Decision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097280"/>
            <a:ext cx="256032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43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097280"/>
            <a:ext cx="64008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14300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35608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435608"/>
            <a:ext cx="2560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4813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Two-stage cascade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435608"/>
            <a:ext cx="6400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481328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Irreconcilable objectives in single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73936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8196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Backbone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773936"/>
            <a:ext cx="2560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18196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DINOv2 ViT-S/14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773936"/>
            <a:ext cx="6400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181965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+5–8% bal. acc.; cosine-aligned embeddings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12264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157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Loss (Stage 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112264"/>
            <a:ext cx="2560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157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Focal Loss (γ=2.0)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112264"/>
            <a:ext cx="6400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157984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Auto-focuses on hard defect examples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450592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4963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Loss (Stage 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450592"/>
            <a:ext cx="2560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4963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CE + label smoothing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2450592"/>
            <a:ext cx="6400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249631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Prevents overconfidence on small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788920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2834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Inference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788920"/>
            <a:ext cx="2560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2834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Prototype cosine sim.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2788920"/>
            <a:ext cx="6400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283464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 retraining for new defect types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127248"/>
            <a:ext cx="228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172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TTA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3127248"/>
            <a:ext cx="25603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31729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On prototypes, not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3127248"/>
            <a:ext cx="6400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3172968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Stabilises centroids; avoids test noise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465576"/>
            <a:ext cx="22860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511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Threshold 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3465576"/>
            <a:ext cx="25603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351129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0.65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3465576"/>
            <a:ext cx="64008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351129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Tuned: max defect recall, good recall ≥ 80%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4400"/>
                </a:solidFill>
              </a:rPr>
              <a:t>Current bottleneck: defect8 (50% recall) — Stage 1 visual overlap with "good" chips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347472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Limitation /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481328"/>
            <a:ext cx="2743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5270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481328"/>
            <a:ext cx="5029200" cy="33832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5270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Proposed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9656"/>
            <a:ext cx="34747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653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defect8 Stage 1 discrimination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819656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1865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50%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819656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86537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Per-class τ or dedicated anomaly detector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57984"/>
            <a:ext cx="3474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03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Backbone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157984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2037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ViT-Small/14 (22M params)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157984"/>
            <a:ext cx="5029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2037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ViT-Base (86M params), ~90ms inference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496312"/>
            <a:ext cx="34747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Image resolution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496312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25420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224×224 (from ≤1500×2500)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496312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5420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Tiled inference at native resolution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34640"/>
            <a:ext cx="34747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Static prototypes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834640"/>
            <a:ext cx="2743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28803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Computed at train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834640"/>
            <a:ext cx="5029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8803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Online EMA updates from production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172968"/>
            <a:ext cx="347472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2186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Val set size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3172968"/>
            <a:ext cx="2743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3218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1–2 samples/rare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3172968"/>
            <a:ext cx="5029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2186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More labelled data improves estimates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436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All improvements are additive — the cascade architecture remains the correct foundation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5FF"/>
                </a:solidFill>
              </a:rPr>
              <a:t>DINOv2 ViT-Small/14  ·  Two-Stage Cascade  ·  TTA-Averaged Prototypes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Overall Accuracy:  87.7%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Balanced Accuracy:  0.909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Avg. Defect Recall:  91.25%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CFF"/>
                </a:solidFill>
              </a:rPr>
              <a:t>python evaluate.py --cascade --dinov2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